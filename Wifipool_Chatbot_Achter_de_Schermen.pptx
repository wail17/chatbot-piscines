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1371600"/>
            <a:ext cx="5943600" cy="59436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114800"/>
            <a:ext cx="3657600" cy="36576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7772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0E7AC4"/>
                </a:solidFill>
                <a:latin typeface="Segoe UI Emoji"/>
              </a:rPr>
              <a:t>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77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Wifipool ·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EA5D8"/>
                </a:solidFill>
                <a:latin typeface="Calibri"/>
              </a:rPr>
              <a:t>ACHTER DE SCHERMEN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Hoe onze chatbot</a:t>
            </a:r>
          </a:p>
          <a:p>
            <a:pPr algn="l">
              <a:lnSpc>
                <a:spcPct val="105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leeft, leert en groeit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8F1FA"/>
                </a:solidFill>
                <a:latin typeface="Calibri"/>
              </a:rPr>
              <a:t>Een visuele rondleiding doorheen het beheer, de werking en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D8F1FA"/>
                </a:solidFill>
                <a:latin typeface="Calibri"/>
              </a:rPr>
              <a:t>de updates van de Wifipool kennisassistent.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98932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 Emoji"/>
              </a:rPr>
              <a:t>🚀  versie 2.1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INHOUD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Wat ga je ontdekken?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1060704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395728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6888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0B1F3A"/>
                </a:solidFill>
                <a:latin typeface="Segoe UI Emoji"/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323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Hoe wijzig je de FAQ?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0779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Het admin-dashboard, snel toevoegen, Excel bulk-edit, tabs per categorie.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85032"/>
            <a:ext cx="1060704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88620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59352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0B1F3A"/>
                </a:solidFill>
                <a:latin typeface="Segoe UI Emoj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22776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Hoe werkt de chatbot?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98264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De architectuur, slim zoeken, meertalige antwoorden, synoniemen.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75504"/>
            <a:ext cx="1060704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5376672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449824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0B1F3A"/>
                </a:solidFill>
                <a:latin typeface="Segoe UI Emoj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1324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Hoe rollen we updates uit?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888736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Live wijzigingen, backups, monitoring en veiligheidsnet.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EA5D8"/>
                </a:solidFill>
                <a:latin typeface="Calibri"/>
              </a:rPr>
              <a:t>DEEL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DE FAQ BEHEREN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Hoe wijzig je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de kennisbank?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D8F1FA"/>
                </a:solidFill>
                <a:latin typeface="Calibri"/>
              </a:rPr>
              <a:t>Drie eenvoudige manieren om je chatbot te voeden.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D8F1FA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1 ·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Eén plek voor al je vragen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4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6858000" cy="41148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Het admin-dashboard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Veilig achter een wachtwoord — voor jou en je team.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01A2C"/>
                </a:solidFill>
                <a:latin typeface="Segoe UI Emoj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Calibri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De belangrijkste cijfers in één oogopslag.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01A2C"/>
                </a:solidFill>
                <a:latin typeface="Segoe UI Emoj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Calibri"/>
              </a:rPr>
              <a:t>FAQ per categorie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Bewerk vragen per thema — met tabs.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01A2C"/>
                </a:solidFill>
                <a:latin typeface="Segoe UI Emoji"/>
              </a:rPr>
              <a:t>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Calibri"/>
              </a:rPr>
              <a:t>Onbeantwoord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634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Wat de chatbot niet kon beantwoorden.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01A2C"/>
                </a:solidFill>
                <a:latin typeface="Segoe UI Emoji"/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03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Calibri"/>
              </a:rPr>
              <a:t>Excel-import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303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Bulk-wijzigingen via je vertrouwde Excel.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10312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2240280"/>
            <a:ext cx="3337560" cy="365760"/>
          </a:xfrm>
          <a:prstGeom prst="roundRect">
            <a:avLst>
              <a:gd name="adj" fmla="val 25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79" y="23317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2331720"/>
            <a:ext cx="164592" cy="164592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04504" y="23317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2697480"/>
            <a:ext cx="960120" cy="3429000"/>
          </a:xfrm>
          <a:prstGeom prst="roundRect">
            <a:avLst>
              <a:gd name="adj" fmla="val 5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83879" y="2834640"/>
            <a:ext cx="777240" cy="320040"/>
          </a:xfrm>
          <a:prstGeom prst="roundRect">
            <a:avLst>
              <a:gd name="adj" fmla="val 40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2834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Segoe UI Emoji"/>
              </a:rPr>
              <a:t>📊 Overview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246120"/>
            <a:ext cx="777240" cy="320040"/>
          </a:xfrm>
          <a:prstGeom prst="roundRect">
            <a:avLst>
              <a:gd name="adj" fmla="val 40000"/>
            </a:avLst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24612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Segoe UI Emoji"/>
              </a:rPr>
              <a:t>📚 FAQ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657600"/>
            <a:ext cx="777240" cy="320040"/>
          </a:xfrm>
          <a:prstGeom prst="roundRect">
            <a:avLst>
              <a:gd name="adj" fmla="val 40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6576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Segoe UI Emoji"/>
              </a:rPr>
              <a:t>❓ Gaps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697480"/>
            <a:ext cx="22860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6974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B1F3A"/>
                </a:solidFill>
                <a:latin typeface="Calibri"/>
              </a:rPr>
              <a:t>FAQ per categorie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329184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29184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Algemeen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329184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29184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0B1F3A"/>
                </a:solidFill>
                <a:latin typeface="Calibri"/>
              </a:rPr>
              <a:t>Wifipool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98480" y="329184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0" y="329184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0B1F3A"/>
                </a:solidFill>
                <a:latin typeface="Calibri"/>
              </a:rPr>
              <a:t>Display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703320"/>
            <a:ext cx="224028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81160" y="3794760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921240" y="3776472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21240" y="393192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0" y="4206240"/>
            <a:ext cx="224028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81160" y="4297680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21240" y="4279392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921240" y="443484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0" y="4709160"/>
            <a:ext cx="224028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281160" y="4800600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21240" y="4782312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21240" y="493776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0" y="5212080"/>
            <a:ext cx="224028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281160" y="5303520"/>
            <a:ext cx="548640" cy="228600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921240" y="5285232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921240" y="544068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1 · OPTIE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Snel een nieuwe vraag toevoegen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Voor 1 tot 5 vragen — direct geleerd, in alle talen.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6C63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31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Calibri"/>
              </a:rPr>
              <a:t>Klik op 'Nieuwe vraag'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Een eenvoudig formulier opent.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274320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2272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36592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6C63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931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Calibri"/>
              </a:rPr>
              <a:t>Typ de vraag en het antwoord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5720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Voeg eventueel een YouTube-link of foto toe.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274320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47304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6C63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931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Calibri"/>
              </a:rPr>
              <a:t>Klik op opslaan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5720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De chatbot weet het meteen — voor elke taal.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52160"/>
            <a:ext cx="10607040" cy="502920"/>
          </a:xfrm>
          <a:prstGeom prst="roundRect">
            <a:avLst>
              <a:gd name="adj" fmla="val 30000"/>
            </a:avLst>
          </a:prstGeom>
          <a:solidFill>
            <a:srgbClr val="EEF8FD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521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Segoe UI Emoji"/>
              </a:rPr>
              <a:t>💡  Tip: foto's en links kunnen later via Excel verfijnd worden.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1 · OPTIE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Bulk-wijzigingen via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Voor grote bewerkingen — gebruik je vertrouwde Excel-sheet.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889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3063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63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Segoe UI Emoji"/>
              </a:rPr>
              <a:t>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63439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D8F1FA"/>
                </a:solidFill>
                <a:latin typeface="Calibri"/>
              </a:rPr>
              <a:t>De volledige FAQ als één Excel-bestand.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977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7889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00600" y="3063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063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Segoe UI Emoji"/>
              </a:rPr>
              <a:t>✍️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Bewerk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663439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D8F1FA"/>
                </a:solidFill>
                <a:latin typeface="Calibri"/>
              </a:rPr>
              <a:t>Pas vragen, antwoorden en vertalingen aan.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977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27889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8200" y="3063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063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Segoe UI Emoji"/>
              </a:rPr>
              <a:t>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663439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D8F1FA"/>
                </a:solidFill>
                <a:latin typeface="Calibri"/>
              </a:rPr>
              <a:t>De chatbot leert meteen van het nieuwe bestand.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0292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521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Segoe UI Emoji"/>
              </a:rPr>
              <a:t>🛟  Veilig: van elk geüpload bestand bewaren we automatisch een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1 · NIEUW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FAQ per categorie — met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Springt direct naar het thema dat je wil bewerken.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0704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2816352"/>
            <a:ext cx="996696" cy="365760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16352"/>
            <a:ext cx="6766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6C63FF"/>
                </a:solidFill>
                <a:latin typeface="Calibri"/>
              </a:rPr>
              <a:t>336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02536" y="2816352"/>
            <a:ext cx="1545336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2816352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Algemeen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5264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5264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816352"/>
            <a:ext cx="1545336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816352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Wifipool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4608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1224" y="2816352"/>
            <a:ext cx="1435608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224" y="2816352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Display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816352"/>
            <a:ext cx="1106424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816352"/>
            <a:ext cx="7863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EPDM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656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656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91272" y="2816352"/>
            <a:ext cx="1655064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81635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pH meting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3728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18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0344" y="2816352"/>
            <a:ext cx="2313432" cy="36576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0344" y="2816352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Zoutelectrolyse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631168" y="288950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31168" y="288950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42526B"/>
                </a:solidFill>
                <a:latin typeface="Calibri"/>
              </a:rPr>
              <a:t>35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520440"/>
            <a:ext cx="1060704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520440"/>
            <a:ext cx="10607040" cy="3657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2526B"/>
                </a:solidFill>
                <a:latin typeface="Calibri"/>
              </a:rPr>
              <a:t>Categorie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70632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2526B"/>
                </a:solidFill>
                <a:latin typeface="Calibri"/>
              </a:rPr>
              <a:t>Vraag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5432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2526B"/>
                </a:solidFill>
                <a:latin typeface="Calibri"/>
              </a:rPr>
              <a:t>Antwoord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35204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2526B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" y="3995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" y="39959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E5A90"/>
                </a:solidFill>
                <a:latin typeface="Calibri"/>
              </a:rPr>
              <a:t>Wifipool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70632" y="3977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Calibri"/>
              </a:rPr>
              <a:t>Hoe reset ik Gen 2?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3977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Druk 5s op de knop tot de led knippert…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" y="449884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" y="449884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E5A90"/>
                </a:solidFill>
                <a:latin typeface="Calibri"/>
              </a:rPr>
              <a:t>Display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70632" y="4480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Calibri"/>
              </a:rPr>
              <a:t>Display blijft zwart na opstart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480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Controleer de voeding en de modulekabel…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" y="500176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" y="50017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E5A90"/>
                </a:solidFill>
                <a:latin typeface="Calibri"/>
              </a:rPr>
              <a:t>Algemeen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70632" y="4983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Calibri"/>
              </a:rPr>
              <a:t>Waar vind ik de handleidingen?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9834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Op beniferro.eu en op ons YouTube-kanaal.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6080760"/>
            <a:ext cx="10607040" cy="411480"/>
          </a:xfrm>
          <a:prstGeom prst="roundRect">
            <a:avLst>
              <a:gd name="adj" fmla="val 30000"/>
            </a:avLst>
          </a:prstGeom>
          <a:solidFill>
            <a:srgbClr val="EEF8FD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Segoe UI Emoji"/>
              </a:rPr>
              <a:t>✨  Nieuw: download óók een Excel met één tabblad per categorie.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EA5D8"/>
                </a:solidFill>
                <a:latin typeface="Calibri"/>
              </a:rPr>
              <a:t>DEEL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ONDER DE MOTORKAP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Hoe werkt de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chatbot écht?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D8F1FA"/>
                </a:solidFill>
                <a:latin typeface="Calibri"/>
              </a:rPr>
              <a:t>Een blik op de logica zonder technisch jargon.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D8F1FA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2 · ARCHITECTUUR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Wat gebeurt er als iemand een vraag stelt?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9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867" y="260604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867" y="2606040"/>
            <a:ext cx="196596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0927" y="2926080"/>
            <a:ext cx="1005840" cy="1005840"/>
          </a:xfrm>
          <a:prstGeom prst="ellipse">
            <a:avLst/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927" y="29260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0233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Calibri"/>
              </a:rPr>
              <a:t>Klant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459" y="438912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Stelt een vraag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op de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819" y="34975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6867" y="260604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6867" y="2606040"/>
            <a:ext cx="196596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06927" y="2926080"/>
            <a:ext cx="1005840" cy="1005840"/>
          </a:xfrm>
          <a:prstGeom prst="ellipse">
            <a:avLst/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06927" y="29260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6867" y="40233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Calibri"/>
              </a:rPr>
              <a:t>Begrijpen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1459" y="438912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Detecteert taal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en bedoeling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8819" y="34975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2867" y="260604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12867" y="2606040"/>
            <a:ext cx="196596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92927" y="2926080"/>
            <a:ext cx="1005840" cy="1005840"/>
          </a:xfrm>
          <a:prstGeom prst="ellipse">
            <a:avLst/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2927" y="29260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2867" y="40233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Calibri"/>
              </a:rPr>
              <a:t>Zoeken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7459" y="438912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Doorzoekt de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FAQ slim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4819" y="34975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8867" y="260604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98867" y="2606040"/>
            <a:ext cx="196596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78927" y="2926080"/>
            <a:ext cx="1005840" cy="1005840"/>
          </a:xfrm>
          <a:prstGeom prst="ellipse">
            <a:avLst/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8927" y="29260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8867" y="40233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Calibri"/>
              </a:rPr>
              <a:t>Antwoorden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3459" y="438912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Schrijft het juiste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antwoord op maat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0819" y="34975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4867" y="260604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84867" y="2606040"/>
            <a:ext cx="196596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64927" y="2926080"/>
            <a:ext cx="1005840" cy="1005840"/>
          </a:xfrm>
          <a:prstGeom prst="ellipse">
            <a:avLst/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64927" y="29260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4867" y="40233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Calibri"/>
              </a:rPr>
              <a:t>Tonen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9459" y="438912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Met foto's, video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en vertaling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0B1F3A"/>
                </a:solidFill>
                <a:latin typeface="Segoe UI Emoji"/>
              </a:rPr>
              <a:t>⚡  Het hele proces gebeurt in milliseconden — alles draait in de cloud,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0B1F3A"/>
                </a:solidFill>
                <a:latin typeface="Segoe UI Emoji"/>
              </a:rPr>
              <a:t>zonder dat de bezoeker iets merkt van de complexiteit erachter.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2 · SLIM ZOEKEN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Zoeken zoals een mens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10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EEF8FD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5A90"/>
                </a:solidFill>
                <a:latin typeface="Calibri"/>
              </a:rPr>
              <a:t>DE VRAAG VAN DE KLANT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F3A"/>
                </a:solidFill>
                <a:latin typeface="Calibri"/>
              </a:rPr>
              <a:t>« Mijn doseerpomp blijft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F3A"/>
                </a:solidFill>
                <a:latin typeface="Calibri"/>
              </a:rPr>
              <a:t>druppelen, wat doe ik fout?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40280"/>
            <a:ext cx="5029200" cy="402336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EA5D8"/>
                </a:solidFill>
                <a:latin typeface="Calibri"/>
              </a:rPr>
              <a:t>DE CHATBOT DENKT…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9260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8803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Begrijpt 'doseerpomp' = synoniem voor injector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49300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4930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44728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Herkent de bedoeling: probleemoplossing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059936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599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01421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Vergelijkt met honderden FAQ's tegelijk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4626864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62686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58114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Vindt de meest waarschijnlijke match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5193792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1937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514807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Controleert dat het antwoord echt past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572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B981"/>
                </a:solidFill>
                <a:latin typeface="Segoe UI Emoji"/>
              </a:rPr>
              <a:t>✓ ANTWOORD GEVONDEN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749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Controleer of de terugslagklep van de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pomp niet vuil is en eventueel de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O-ringen vervangen.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2 · MEERTALIG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Eén vraag, vier talen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De chatbot herkent automatisch de taal van de bezoeker en antwoordt navenant.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>
                <a:solidFill>
                  <a:srgbClr val="101A2C"/>
                </a:solidFill>
                <a:latin typeface="Segoe UI Emoji"/>
              </a:rPr>
              <a:t>🇳🇱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Nederlands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Brontaal — alle vragen worden eerst hier beheerd.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7432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310896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>
                <a:solidFill>
                  <a:srgbClr val="101A2C"/>
                </a:solidFill>
                <a:latin typeface="Segoe UI Emoji"/>
              </a:rPr>
              <a:t>🇬🇧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297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48006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Antwoorden vooraf vertaald, kant-en-klaar.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7432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10896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>
                <a:solidFill>
                  <a:srgbClr val="101A2C"/>
                </a:solidFill>
                <a:latin typeface="Segoe UI Emoji"/>
              </a:rPr>
              <a:t>🇫🇷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4297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Français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48006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Idem — even snel als in het Nederlands.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7432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310896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>
                <a:solidFill>
                  <a:srgbClr val="101A2C"/>
                </a:solidFill>
                <a:latin typeface="Segoe UI Emoji"/>
              </a:rPr>
              <a:t>🇩🇪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297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B1F3A"/>
                </a:solidFill>
                <a:latin typeface="Calibri"/>
              </a:rPr>
              <a:t>Deutsch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48006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Zelfde kwaliteit, elk dialect ondersteund.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0607040" cy="411480"/>
          </a:xfrm>
          <a:prstGeom prst="roundRect">
            <a:avLst>
              <a:gd name="adj" fmla="val 30000"/>
            </a:avLst>
          </a:prstGeom>
          <a:solidFill>
            <a:srgbClr val="EEF8FD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Segoe UI Emoji"/>
              </a:rPr>
              <a:t>🌐  Voeg in één taal toe → de andere drie volgen automatisch.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2 · SYNONIEMEN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Verschillende woorden, zelfde antwoord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12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Klanten gebruiken hun eigen woordenschat. De chatbot 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162763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6276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Calibri"/>
              </a:rPr>
              <a:t>doseerpomp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200400"/>
            <a:ext cx="1408176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3200400"/>
            <a:ext cx="14081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Calibri"/>
              </a:rPr>
              <a:t>injector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931920"/>
            <a:ext cx="1627631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16276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Calibri"/>
              </a:rPr>
              <a:t>doseerunit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297680"/>
            <a:ext cx="96926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4297680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Calibri"/>
              </a:rPr>
              <a:t>pomp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EA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E5A90"/>
                </a:solidFill>
                <a:latin typeface="Calibri"/>
              </a:rPr>
              <a:t>dosing pump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033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6C63FF"/>
                </a:solidFill>
                <a:latin typeface="Calibri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108960"/>
            <a:ext cx="4114800" cy="2286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246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EA5D8"/>
                </a:solidFill>
                <a:latin typeface="Segoe UI Emoji"/>
              </a:rPr>
              <a:t>🎯  ÉÉN BEGRIP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033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Doseersysteem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4348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D8F1FA"/>
                </a:solidFill>
                <a:latin typeface="Calibri"/>
              </a:rPr>
              <a:t>Eén juist antwoord —</a:t>
            </a:r>
          </a:p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D8F1FA"/>
                </a:solidFill>
                <a:latin typeface="Calibri"/>
              </a:rPr>
              <a:t>ongeacht hoe de klant het noemt.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989320"/>
            <a:ext cx="10607040" cy="41148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Segoe UI Emoji"/>
              </a:rPr>
              <a:t>✏️  Synoniemen kunnen we centraal beheren in een speciaal Excel-tabblad.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2 · KENNISBANK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Wat zit er allemaal in de chatbot?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688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2606040" cy="73152"/>
          </a:xfrm>
          <a:prstGeom prst="roundRect">
            <a:avLst>
              <a:gd name="adj" fmla="val 0"/>
            </a:avLst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0E7AC4"/>
                </a:solidFill>
                <a:latin typeface="Calibri"/>
              </a:rPr>
              <a:t>336+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2526B"/>
                </a:solidFill>
                <a:latin typeface="Calibri"/>
              </a:rPr>
              <a:t>Vragen &amp; antwoorden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4688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2152" y="2468880"/>
            <a:ext cx="26060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301752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6C63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069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2526B"/>
                </a:solidFill>
                <a:latin typeface="Calibri"/>
              </a:rPr>
              <a:t>Talen ondersteund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4688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7064" y="2468880"/>
            <a:ext cx="2606040" cy="73152"/>
          </a:xfrm>
          <a:prstGeom prst="roundRect">
            <a:avLst>
              <a:gd name="adj" fmla="val 0"/>
            </a:avLst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01752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0E5A90"/>
                </a:solidFill>
                <a:latin typeface="Calibri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4069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2526B"/>
                </a:solidFill>
                <a:latin typeface="Calibri"/>
              </a:rPr>
              <a:t>Categorieën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4688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51976" y="2468880"/>
            <a:ext cx="2606040" cy="73152"/>
          </a:xfrm>
          <a:prstGeom prst="roundRect">
            <a:avLst>
              <a:gd name="adj" fmla="val 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3017520"/>
            <a:ext cx="2606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C107"/>
                </a:solidFill>
                <a:latin typeface="Calibri"/>
              </a:rPr>
              <a:t>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069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2526B"/>
                </a:solidFill>
                <a:latin typeface="Calibri"/>
              </a:rPr>
              <a:t>Synoniem-varianten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01A2C"/>
                </a:solidFill>
                <a:latin typeface="Segoe UI Emoji"/>
              </a:rPr>
              <a:t>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38928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F3A"/>
                </a:solidFill>
                <a:latin typeface="Calibri"/>
              </a:rPr>
              <a:t>Foto's per vraag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Visuele uitleg waar nodig.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01A2C"/>
                </a:solidFill>
                <a:latin typeface="Segoe UI Emoji"/>
              </a:rPr>
              <a:t>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9512" y="5138928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F3A"/>
                </a:solidFill>
                <a:latin typeface="Calibri"/>
              </a:rPr>
              <a:t>Video-links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55778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Naar het YouTube-kanaal van Beniferro.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7304" y="49377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4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01A2C"/>
                </a:solidFill>
                <a:latin typeface="Segoe UI Emoji"/>
              </a:rP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5138928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F3A"/>
                </a:solidFill>
                <a:latin typeface="Calibri"/>
              </a:rPr>
              <a:t>Alternatieve formuleringen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55778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2526B"/>
                </a:solidFill>
                <a:latin typeface="Calibri"/>
              </a:rPr>
              <a:t>Voor als de klant het anders zegt.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EA5D8"/>
                </a:solidFill>
                <a:latin typeface="Calibri"/>
              </a:rPr>
              <a:t>DEEL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LEVEND SYSTEEM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Updates &amp;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veiligheidsnet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D8F1FA"/>
                </a:solidFill>
                <a:latin typeface="Calibri"/>
              </a:rPr>
              <a:t>Hoe we evolueren zonder iets te breken.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D8F1FA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3 ·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Nieuwe vragen, meteen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Geen onderhoudsvenster, geen downtime, geen technische tussenkomst nodig.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023360"/>
            <a:ext cx="9509760" cy="36576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E7AC4"/>
                </a:solidFill>
                <a:latin typeface="Calibri"/>
              </a:rPr>
              <a:t>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65760" y="4800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Je drukt op opslaan</a:t>
            </a:r>
          </a:p>
        </p:txBody>
      </p:sp>
      <p:sp>
        <p:nvSpPr>
          <p:cNvPr id="16" name="Oval 15"/>
          <p:cNvSpPr/>
          <p:nvPr/>
        </p:nvSpPr>
        <p:spPr>
          <a:xfrm>
            <a:off x="4084320" y="3794760"/>
            <a:ext cx="502920" cy="50292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4320" y="3794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992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E7AC4"/>
                </a:solidFill>
                <a:latin typeface="Calibri"/>
              </a:rPr>
              <a:t>1s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160" y="4800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Server herlaadt de FAQ</a:t>
            </a:r>
          </a:p>
        </p:txBody>
      </p:sp>
      <p:sp>
        <p:nvSpPr>
          <p:cNvPr id="20" name="Oval 19"/>
          <p:cNvSpPr/>
          <p:nvPr/>
        </p:nvSpPr>
        <p:spPr>
          <a:xfrm>
            <a:off x="7254240" y="379476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4240" y="3794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984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C63FF"/>
                </a:solidFill>
                <a:latin typeface="Calibri"/>
              </a:rPr>
              <a:t>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4080" y="4800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Nieuwe vraag staat in de zoekindex</a:t>
            </a:r>
          </a:p>
        </p:txBody>
      </p:sp>
      <p:sp>
        <p:nvSpPr>
          <p:cNvPr id="24" name="Oval 23"/>
          <p:cNvSpPr/>
          <p:nvPr/>
        </p:nvSpPr>
        <p:spPr>
          <a:xfrm>
            <a:off x="10424160" y="3794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3794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0B981"/>
                </a:solidFill>
                <a:latin typeface="Calibri"/>
              </a:rPr>
              <a:t>3s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800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Klanten krijgen het nieuwe antwoord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760720"/>
            <a:ext cx="10607040" cy="594360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 Emoji"/>
              </a:rPr>
              <a:t>🚀  De klant aan de andere kant merkt nul onderbreking.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3 · VEILIGHEIDSNET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Backups en herstel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4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6517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517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Automatische backups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5468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Bij elke Excel-upload bewaren we de vorige versie.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De laatste 3 versies blijven beschikbaar.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7744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6517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Beveiligde toegang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15468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Het dashboard zit achter een wachtwoord.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Alleen jij en je team kunnen wijzigen.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25112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599432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9943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59943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Snel terugdraaien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02352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Foutje gemaakt? In één klik herstel je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de vorige versie van de FAQ.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25112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599432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E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99432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59943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Foutbestendigheid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5102352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Als iets misgaat tijdens een upload,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526B"/>
                </a:solidFill>
                <a:latin typeface="Calibri"/>
              </a:rPr>
              <a:t>blijft de oude versie automatisch actief.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DEEL 3 ·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We zien wat de klanten vragen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526B"/>
                </a:solidFill>
                <a:latin typeface="Calibri"/>
              </a:rPr>
              <a:t>Het dashboard toont continu wat goed loopt en wat verbetering nodig heeft.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0632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Top vragen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1999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De 10 meest gestelde vragen — handig om je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FAQ te prioriteren.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269748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2272" y="269748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36592" y="30632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148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Onbeantwoorde vragen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571999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Wat de chatbot niet kon helpen — kandidaten om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de kennisbank uit te breiden.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269748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47304" y="2697480"/>
            <a:ext cx="3520440" cy="73152"/>
          </a:xfrm>
          <a:prstGeom prst="roundRect">
            <a:avLst>
              <a:gd name="adj" fmla="val 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30632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E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01A2C"/>
                </a:solidFill>
                <a:latin typeface="Segoe UI Emoj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41148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Calibri"/>
              </a:rPr>
              <a:t>Talen-verdeling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571999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Welke taal je klanten gebruiken —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526B"/>
                </a:solidFill>
                <a:latin typeface="Calibri"/>
              </a:rPr>
              <a:t>focus op de juiste vertalingen.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292608" cy="292608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 Emoji"/>
              </a:rPr>
              <a:t>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2526B"/>
                </a:solidFill>
                <a:latin typeface="Calibri"/>
              </a:rPr>
              <a:t>Wifipool ·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63FF"/>
                </a:solidFill>
                <a:latin typeface="Calibri"/>
              </a:rPr>
              <a:t>OVERZICHT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B1F3A"/>
                </a:solidFill>
                <a:latin typeface="Calibri"/>
              </a:rPr>
              <a:t>Wat heb je nu in handen?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Wifipool — Achter de schermen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2526B"/>
                </a:solidFill>
                <a:latin typeface="Calibri"/>
              </a:rPr>
              <a:t>18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377440"/>
            <a:ext cx="9601200" cy="59436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24963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496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77440"/>
            <a:ext cx="8823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1F3A"/>
                </a:solidFill>
                <a:latin typeface="Calibri"/>
              </a:rPr>
              <a:t>Een dashboard om alles te beheren — zonder ontwikkelaars.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136392"/>
            <a:ext cx="9601200" cy="59436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17320" y="3255264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255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136392"/>
            <a:ext cx="8823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1F3A"/>
                </a:solidFill>
                <a:latin typeface="Calibri"/>
              </a:rPr>
              <a:t>Snel toevoegen of bulk-bewerken via Excel — jouw keuze.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895344"/>
            <a:ext cx="9601200" cy="59436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17320" y="401421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0142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895344"/>
            <a:ext cx="8823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1F3A"/>
                </a:solidFill>
                <a:latin typeface="Calibri"/>
              </a:rPr>
              <a:t>Een meertalige chatbot die slim zoekt en netjes antwoordt.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654296"/>
            <a:ext cx="9601200" cy="59436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320" y="4773168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773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654296"/>
            <a:ext cx="8823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1F3A"/>
                </a:solidFill>
                <a:latin typeface="Calibri"/>
              </a:rPr>
              <a:t>Live updates en automatische backups.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5413248"/>
            <a:ext cx="9601200" cy="594360"/>
          </a:xfrm>
          <a:prstGeom prst="roundRect">
            <a:avLst>
              <a:gd name="adj" fmla="val 3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17320" y="55321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5532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413248"/>
            <a:ext cx="8823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1F3A"/>
                </a:solidFill>
                <a:latin typeface="Calibri"/>
              </a:rPr>
              <a:t>Inzicht in wat klanten vragen — om continu te verbeteren.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E5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114800"/>
            <a:ext cx="3657600" cy="3657600"/>
          </a:xfrm>
          <a:prstGeom prst="ellipse">
            <a:avLst/>
          </a:prstGeom>
          <a:solidFill>
            <a:srgbClr val="0E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EA5D8"/>
                </a:solidFill>
                <a:latin typeface="Calibri"/>
              </a:rPr>
              <a:t>BEDANKT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>
                <a:solidFill>
                  <a:srgbClr val="FFFFFF"/>
                </a:solidFill>
                <a:latin typeface="Calibri"/>
              </a:rPr>
              <a:t>Vragen?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8F1FA"/>
                </a:solidFill>
                <a:latin typeface="Calibri"/>
              </a:rPr>
              <a:t>We helpen je graag verder met de volgende stappen.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